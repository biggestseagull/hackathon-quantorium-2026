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0"/>
  </p:notesMasterIdLst>
  <p:sldIdLst>
    <p:sldId id="256" r:id="rId2"/>
    <p:sldId id="261" r:id="rId3"/>
    <p:sldId id="274" r:id="rId4"/>
    <p:sldId id="260" r:id="rId5"/>
    <p:sldId id="263" r:id="rId6"/>
    <p:sldId id="264" r:id="rId7"/>
    <p:sldId id="270" r:id="rId8"/>
    <p:sldId id="277" r:id="rId9"/>
  </p:sldIdLst>
  <p:sldSz cx="12192000" cy="6858000"/>
  <p:notesSz cx="6858000" cy="9144000"/>
  <p:embeddedFontLst>
    <p:embeddedFont>
      <p:font typeface="Abril Fatface" panose="02000503000000020003" pitchFamily="2" charset="0"/>
      <p:regular r:id="rId11"/>
    </p:embeddedFon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Griffy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ono" panose="00000009000000000000" pitchFamily="49" charset="0"/>
      <p:regular r:id="rId21"/>
      <p:bold r:id="rId22"/>
      <p:italic r:id="rId23"/>
      <p:boldItalic r:id="rId24"/>
    </p:embeddedFont>
    <p:embeddedFont>
      <p:font typeface="Roboto Mono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20"/>
  </p:normalViewPr>
  <p:slideViewPr>
    <p:cSldViewPr snapToGrid="0">
      <p:cViewPr varScale="1">
        <p:scale>
          <a:sx n="154" d="100"/>
          <a:sy n="154" d="100"/>
        </p:scale>
        <p:origin x="40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a073618e6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a073618e6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073618e6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a073618e6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a073618e6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a073618e6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638797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6541221" y="1539734"/>
            <a:ext cx="635280" cy="147600"/>
            <a:chOff x="2147366" y="4139382"/>
            <a:chExt cx="635280" cy="147600"/>
          </a:xfrm>
        </p:grpSpPr>
        <p:sp>
          <p:nvSpPr>
            <p:cNvPr id="142" name="Google Shape;142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>
            <a:off x="994425" y="1429625"/>
            <a:ext cx="4809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1147671" y="1539734"/>
            <a:ext cx="635280" cy="147600"/>
            <a:chOff x="2147366" y="4139382"/>
            <a:chExt cx="635280" cy="147600"/>
          </a:xfrm>
        </p:grpSpPr>
        <p:sp>
          <p:nvSpPr>
            <p:cNvPr id="147" name="Google Shape;147;p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1315075" y="2268525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6679275" y="225500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629700" y="604225"/>
            <a:ext cx="10932600" cy="5351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0"/>
          <p:cNvGrpSpPr/>
          <p:nvPr/>
        </p:nvGrpSpPr>
        <p:grpSpPr>
          <a:xfrm>
            <a:off x="819246" y="714334"/>
            <a:ext cx="635280" cy="147600"/>
            <a:chOff x="2147366" y="4139382"/>
            <a:chExt cx="635280" cy="147600"/>
          </a:xfrm>
        </p:grpSpPr>
        <p:sp>
          <p:nvSpPr>
            <p:cNvPr id="180" name="Google Shape;180;p1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781800" y="919825"/>
            <a:ext cx="10628400" cy="4720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CUSTOM_1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8287500" y="2328800"/>
            <a:ext cx="34293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14"/>
          <p:cNvGrpSpPr/>
          <p:nvPr/>
        </p:nvGrpSpPr>
        <p:grpSpPr>
          <a:xfrm>
            <a:off x="8429771" y="2458834"/>
            <a:ext cx="635280" cy="147600"/>
            <a:chOff x="2147366" y="4139382"/>
            <a:chExt cx="635280" cy="147600"/>
          </a:xfrm>
        </p:grpSpPr>
        <p:sp>
          <p:nvSpPr>
            <p:cNvPr id="235" name="Google Shape;235;p1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14"/>
          <p:cNvSpPr/>
          <p:nvPr/>
        </p:nvSpPr>
        <p:spPr>
          <a:xfrm>
            <a:off x="4381350" y="1762275"/>
            <a:ext cx="34293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4381350" y="1762275"/>
            <a:ext cx="3429300" cy="3594900"/>
          </a:xfrm>
          <a:prstGeom prst="roundRect">
            <a:avLst>
              <a:gd name="adj" fmla="val 3539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14"/>
          <p:cNvGrpSpPr/>
          <p:nvPr/>
        </p:nvGrpSpPr>
        <p:grpSpPr>
          <a:xfrm>
            <a:off x="4523621" y="1892309"/>
            <a:ext cx="635280" cy="147600"/>
            <a:chOff x="2147366" y="4139382"/>
            <a:chExt cx="635280" cy="147600"/>
          </a:xfrm>
        </p:grpSpPr>
        <p:sp>
          <p:nvSpPr>
            <p:cNvPr id="241" name="Google Shape;241;p1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4"/>
          <p:cNvSpPr/>
          <p:nvPr/>
        </p:nvSpPr>
        <p:spPr>
          <a:xfrm>
            <a:off x="475200" y="2300850"/>
            <a:ext cx="34293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14"/>
          <p:cNvGrpSpPr/>
          <p:nvPr/>
        </p:nvGrpSpPr>
        <p:grpSpPr>
          <a:xfrm>
            <a:off x="617471" y="2430884"/>
            <a:ext cx="635280" cy="147600"/>
            <a:chOff x="2147366" y="4139382"/>
            <a:chExt cx="635280" cy="147600"/>
          </a:xfrm>
        </p:grpSpPr>
        <p:sp>
          <p:nvSpPr>
            <p:cNvPr id="246" name="Google Shape;246;p1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4"/>
          <p:cNvSpPr txBox="1">
            <a:spLocks noGrp="1"/>
          </p:cNvSpPr>
          <p:nvPr>
            <p:ph type="title" hasCustomPrompt="1"/>
          </p:nvPr>
        </p:nvSpPr>
        <p:spPr>
          <a:xfrm>
            <a:off x="715025" y="29223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 b="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250" name="Google Shape;250;p14"/>
          <p:cNvSpPr txBox="1">
            <a:spLocks noGrp="1"/>
          </p:cNvSpPr>
          <p:nvPr>
            <p:ph type="title" idx="2"/>
          </p:nvPr>
        </p:nvSpPr>
        <p:spPr>
          <a:xfrm>
            <a:off x="715025" y="3647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title" idx="3" hasCustomPrompt="1"/>
          </p:nvPr>
        </p:nvSpPr>
        <p:spPr>
          <a:xfrm>
            <a:off x="4598239" y="2465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 b="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252" name="Google Shape;252;p14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9223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 b="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253" name="Google Shape;253;p14"/>
          <p:cNvSpPr txBox="1">
            <a:spLocks noGrp="1"/>
          </p:cNvSpPr>
          <p:nvPr>
            <p:ph type="body" idx="1"/>
          </p:nvPr>
        </p:nvSpPr>
        <p:spPr>
          <a:xfrm>
            <a:off x="8481446" y="41639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254" name="Google Shape;254;p14"/>
          <p:cNvSpPr txBox="1">
            <a:spLocks noGrp="1"/>
          </p:cNvSpPr>
          <p:nvPr>
            <p:ph type="body" idx="5"/>
          </p:nvPr>
        </p:nvSpPr>
        <p:spPr>
          <a:xfrm>
            <a:off x="4598236" y="3695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6"/>
          </p:nvPr>
        </p:nvSpPr>
        <p:spPr>
          <a:xfrm>
            <a:off x="715025" y="41527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/>
          <p:nvPr/>
        </p:nvSpPr>
        <p:spPr>
          <a:xfrm>
            <a:off x="9755550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17"/>
          <p:cNvGrpSpPr/>
          <p:nvPr/>
        </p:nvGrpSpPr>
        <p:grpSpPr>
          <a:xfrm>
            <a:off x="9896946" y="2147659"/>
            <a:ext cx="635280" cy="147600"/>
            <a:chOff x="2147366" y="4139382"/>
            <a:chExt cx="635280" cy="147600"/>
          </a:xfrm>
        </p:grpSpPr>
        <p:sp>
          <p:nvSpPr>
            <p:cNvPr id="296" name="Google Shape;296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7"/>
          <p:cNvGrpSpPr/>
          <p:nvPr/>
        </p:nvGrpSpPr>
        <p:grpSpPr>
          <a:xfrm>
            <a:off x="7372797" y="2017625"/>
            <a:ext cx="2211900" cy="3594900"/>
            <a:chOff x="7395788" y="2017625"/>
            <a:chExt cx="2211900" cy="3594900"/>
          </a:xfrm>
        </p:grpSpPr>
        <p:sp>
          <p:nvSpPr>
            <p:cNvPr id="300" name="Google Shape;300;p17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7395788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7"/>
          <p:cNvSpPr/>
          <p:nvPr/>
        </p:nvSpPr>
        <p:spPr>
          <a:xfrm>
            <a:off x="4990044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7"/>
          <p:cNvGrpSpPr/>
          <p:nvPr/>
        </p:nvGrpSpPr>
        <p:grpSpPr>
          <a:xfrm>
            <a:off x="7496046" y="2131234"/>
            <a:ext cx="635280" cy="147600"/>
            <a:chOff x="2147366" y="4139382"/>
            <a:chExt cx="635280" cy="147600"/>
          </a:xfrm>
        </p:grpSpPr>
        <p:sp>
          <p:nvSpPr>
            <p:cNvPr id="304" name="Google Shape;304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7"/>
          <p:cNvGrpSpPr/>
          <p:nvPr/>
        </p:nvGrpSpPr>
        <p:grpSpPr>
          <a:xfrm>
            <a:off x="5131446" y="2147659"/>
            <a:ext cx="635280" cy="147600"/>
            <a:chOff x="2147366" y="4139382"/>
            <a:chExt cx="635280" cy="147600"/>
          </a:xfrm>
        </p:grpSpPr>
        <p:sp>
          <p:nvSpPr>
            <p:cNvPr id="308" name="Google Shape;308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7"/>
          <p:cNvGrpSpPr/>
          <p:nvPr/>
        </p:nvGrpSpPr>
        <p:grpSpPr>
          <a:xfrm>
            <a:off x="2607291" y="2017625"/>
            <a:ext cx="2211900" cy="3594900"/>
            <a:chOff x="2630275" y="2017625"/>
            <a:chExt cx="2211900" cy="3594900"/>
          </a:xfrm>
        </p:grpSpPr>
        <p:sp>
          <p:nvSpPr>
            <p:cNvPr id="312" name="Google Shape;312;p17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2630275" y="2017625"/>
              <a:ext cx="2211900" cy="35949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7"/>
          <p:cNvSpPr/>
          <p:nvPr/>
        </p:nvSpPr>
        <p:spPr>
          <a:xfrm>
            <a:off x="224538" y="2017625"/>
            <a:ext cx="2211900" cy="35949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7"/>
          <p:cNvGrpSpPr/>
          <p:nvPr/>
        </p:nvGrpSpPr>
        <p:grpSpPr>
          <a:xfrm>
            <a:off x="2730533" y="2131234"/>
            <a:ext cx="635280" cy="147600"/>
            <a:chOff x="2147366" y="4139382"/>
            <a:chExt cx="635280" cy="147600"/>
          </a:xfrm>
        </p:grpSpPr>
        <p:sp>
          <p:nvSpPr>
            <p:cNvPr id="316" name="Google Shape;316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7"/>
          <p:cNvGrpSpPr/>
          <p:nvPr/>
        </p:nvGrpSpPr>
        <p:grpSpPr>
          <a:xfrm>
            <a:off x="365933" y="2147659"/>
            <a:ext cx="635280" cy="147600"/>
            <a:chOff x="2147366" y="4139382"/>
            <a:chExt cx="635280" cy="147600"/>
          </a:xfrm>
        </p:grpSpPr>
        <p:sp>
          <p:nvSpPr>
            <p:cNvPr id="320" name="Google Shape;320;p17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7"/>
          <p:cNvSpPr txBox="1">
            <a:spLocks noGrp="1"/>
          </p:cNvSpPr>
          <p:nvPr>
            <p:ph type="subTitle" idx="1"/>
          </p:nvPr>
        </p:nvSpPr>
        <p:spPr>
          <a:xfrm>
            <a:off x="316463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4" name="Google Shape;324;p17"/>
          <p:cNvSpPr txBox="1">
            <a:spLocks noGrp="1"/>
          </p:cNvSpPr>
          <p:nvPr>
            <p:ph type="subTitle" idx="2"/>
          </p:nvPr>
        </p:nvSpPr>
        <p:spPr>
          <a:xfrm>
            <a:off x="2706814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2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5" name="Google Shape;325;p17"/>
          <p:cNvSpPr txBox="1">
            <a:spLocks noGrp="1"/>
          </p:cNvSpPr>
          <p:nvPr>
            <p:ph type="subTitle" idx="3"/>
          </p:nvPr>
        </p:nvSpPr>
        <p:spPr>
          <a:xfrm>
            <a:off x="5097166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3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6" name="Google Shape;326;p17"/>
          <p:cNvSpPr txBox="1">
            <a:spLocks noGrp="1"/>
          </p:cNvSpPr>
          <p:nvPr>
            <p:ph type="subTitle" idx="4"/>
          </p:nvPr>
        </p:nvSpPr>
        <p:spPr>
          <a:xfrm>
            <a:off x="7487518" y="2566175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2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7" name="Google Shape;327;p17"/>
          <p:cNvSpPr txBox="1">
            <a:spLocks noGrp="1"/>
          </p:cNvSpPr>
          <p:nvPr>
            <p:ph type="subTitle" idx="5"/>
          </p:nvPr>
        </p:nvSpPr>
        <p:spPr>
          <a:xfrm>
            <a:off x="9877869" y="2569713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28" name="Google Shape;328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29" name="Google Shape;329;p17"/>
          <p:cNvSpPr txBox="1">
            <a:spLocks noGrp="1"/>
          </p:cNvSpPr>
          <p:nvPr>
            <p:ph type="body" idx="6"/>
          </p:nvPr>
        </p:nvSpPr>
        <p:spPr>
          <a:xfrm>
            <a:off x="31646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0" name="Google Shape;330;p17"/>
          <p:cNvSpPr txBox="1">
            <a:spLocks noGrp="1"/>
          </p:cNvSpPr>
          <p:nvPr>
            <p:ph type="body" idx="7"/>
          </p:nvPr>
        </p:nvSpPr>
        <p:spPr>
          <a:xfrm>
            <a:off x="270681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body" idx="8"/>
          </p:nvPr>
        </p:nvSpPr>
        <p:spPr>
          <a:xfrm>
            <a:off x="509716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2" name="Google Shape;332;p17"/>
          <p:cNvSpPr txBox="1">
            <a:spLocks noGrp="1"/>
          </p:cNvSpPr>
          <p:nvPr>
            <p:ph type="body" idx="9"/>
          </p:nvPr>
        </p:nvSpPr>
        <p:spPr>
          <a:xfrm>
            <a:off x="7487513" y="3184000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body" idx="13"/>
          </p:nvPr>
        </p:nvSpPr>
        <p:spPr>
          <a:xfrm>
            <a:off x="9877863" y="3187538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60" r:id="rId6"/>
    <p:sldLayoutId id="2147483663" r:id="rId7"/>
    <p:sldLayoutId id="214748366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10949" y="1344253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ru-RU" sz="3600" dirty="0">
                <a:latin typeface="Century Gothic" panose="020B0502020202020204" pitchFamily="34" charset="0"/>
              </a:rPr>
              <a:t>Информационная база рабочих мест сотрудников АО «</a:t>
            </a:r>
            <a:r>
              <a:rPr lang="ru-RU" sz="3600" dirty="0" err="1">
                <a:latin typeface="Century Gothic" panose="020B0502020202020204" pitchFamily="34" charset="0"/>
              </a:rPr>
              <a:t>Гринатом</a:t>
            </a:r>
            <a:r>
              <a:rPr lang="ru-RU" sz="3600" dirty="0">
                <a:latin typeface="Century Gothic" panose="020B0502020202020204" pitchFamily="34" charset="0"/>
              </a:rPr>
              <a:t>»</a:t>
            </a:r>
            <a:br>
              <a:rPr lang="ru-RU" sz="3600" dirty="0">
                <a:latin typeface="Century Gothic" panose="020B0502020202020204" pitchFamily="34" charset="0"/>
              </a:rPr>
            </a:br>
            <a:br>
              <a:rPr lang="ru-RU" sz="5400" dirty="0"/>
            </a:b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ru-RU" dirty="0">
                <a:solidFill>
                  <a:schemeClr val="accent1"/>
                </a:solidFill>
                <a:latin typeface="Century Gothic" panose="020B0502020202020204" pitchFamily="34" charset="0"/>
              </a:rPr>
              <a:t>Разработчики: команда «</a:t>
            </a:r>
            <a:r>
              <a:rPr lang="ru-RU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Джавапилки</a:t>
            </a:r>
            <a:r>
              <a:rPr lang="ru-RU" dirty="0">
                <a:solidFill>
                  <a:schemeClr val="accent1"/>
                </a:solidFill>
                <a:latin typeface="Century Gothic" panose="020B0502020202020204" pitchFamily="34" charset="0"/>
              </a:rPr>
              <a:t>»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A24C0-15C0-D9DF-539F-2E97B2588E7F}"/>
              </a:ext>
            </a:extLst>
          </p:cNvPr>
          <p:cNvSpPr txBox="1"/>
          <p:nvPr/>
        </p:nvSpPr>
        <p:spPr>
          <a:xfrm>
            <a:off x="2326905" y="2795653"/>
            <a:ext cx="71648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>Кейс по оптимизации организации рабочего пространства и коммуникаций</a:t>
            </a:r>
          </a:p>
          <a:p>
            <a:pPr algn="ctr"/>
            <a:b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"/>
          <p:cNvSpPr txBox="1">
            <a:spLocks noGrp="1"/>
          </p:cNvSpPr>
          <p:nvPr>
            <p:ph type="title"/>
          </p:nvPr>
        </p:nvSpPr>
        <p:spPr>
          <a:xfrm>
            <a:off x="994425" y="361575"/>
            <a:ext cx="1011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entury Gothic" panose="020B0502020202020204" pitchFamily="34" charset="0"/>
              </a:rPr>
              <a:t>Информация о команде</a:t>
            </a:r>
            <a:endParaRPr sz="6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25" name="Google Shape;425;p27"/>
          <p:cNvSpPr txBox="1">
            <a:spLocks noGrp="1"/>
          </p:cNvSpPr>
          <p:nvPr>
            <p:ph type="body" idx="2"/>
          </p:nvPr>
        </p:nvSpPr>
        <p:spPr>
          <a:xfrm>
            <a:off x="6779484" y="163395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Имя:</a:t>
            </a:r>
            <a:r>
              <a:rPr lang="ru-RU" dirty="0">
                <a:latin typeface="Century Gothic" panose="020B0502020202020204" pitchFamily="34" charset="0"/>
              </a:rPr>
              <a:t> Баженов В. С.;</a:t>
            </a:r>
          </a:p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Роль:</a:t>
            </a:r>
            <a:r>
              <a:rPr lang="ru-RU" dirty="0">
                <a:latin typeface="Century Gothic" panose="020B0502020202020204" pitchFamily="34" charset="0"/>
              </a:rPr>
              <a:t> </a:t>
            </a:r>
            <a:r>
              <a:rPr lang="en" dirty="0">
                <a:latin typeface="Century Gothic" panose="020B0502020202020204" pitchFamily="34" charset="0"/>
              </a:rPr>
              <a:t>Frontend‑</a:t>
            </a:r>
            <a:r>
              <a:rPr lang="ru-RU" dirty="0">
                <a:latin typeface="Century Gothic" panose="020B0502020202020204" pitchFamily="34" charset="0"/>
              </a:rPr>
              <a:t>разработчик;</a:t>
            </a:r>
          </a:p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Зона ответственности: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разработка пользовательского интерфейса сайта;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реализация интерактивных элементов на </a:t>
            </a:r>
            <a:r>
              <a:rPr lang="en" sz="1600" dirty="0">
                <a:latin typeface="Century Gothic" panose="020B0502020202020204" pitchFamily="34" charset="0"/>
              </a:rPr>
              <a:t>React;</a:t>
            </a:r>
            <a:endParaRPr lang="ru-RU" sz="1600" dirty="0">
              <a:latin typeface="Century Gothic" panose="020B0502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вёрстка с использованием </a:t>
            </a:r>
            <a:r>
              <a:rPr lang="en" sz="1600" dirty="0">
                <a:latin typeface="Century Gothic" panose="020B0502020202020204" pitchFamily="34" charset="0"/>
              </a:rPr>
              <a:t>HTML/CSS;</a:t>
            </a:r>
            <a:endParaRPr lang="ru-RU" sz="1600" dirty="0">
              <a:latin typeface="Century Gothic" panose="020B0502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настройка навигации через </a:t>
            </a:r>
            <a:r>
              <a:rPr lang="en" sz="1600" dirty="0">
                <a:latin typeface="Century Gothic" panose="020B0502020202020204" pitchFamily="34" charset="0"/>
              </a:rPr>
              <a:t>React Router;</a:t>
            </a:r>
            <a:endParaRPr lang="ru-RU" sz="1600" dirty="0">
              <a:latin typeface="Century Gothic" panose="020B0502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оптимизация производительности фронтенда.</a:t>
            </a:r>
          </a:p>
          <a:p>
            <a:pPr marL="114300" indent="0">
              <a:buNone/>
            </a:pPr>
            <a:br>
              <a:rPr lang="ru-RU" dirty="0">
                <a:latin typeface="Century Gothic" panose="020B0502020202020204" pitchFamily="34" charset="0"/>
              </a:rPr>
            </a:b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426" name="Google Shape;426;p27"/>
          <p:cNvSpPr txBox="1">
            <a:spLocks noGrp="1"/>
          </p:cNvSpPr>
          <p:nvPr>
            <p:ph type="body" idx="1"/>
          </p:nvPr>
        </p:nvSpPr>
        <p:spPr>
          <a:xfrm>
            <a:off x="1358326" y="1759210"/>
            <a:ext cx="4154400" cy="359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Имя:</a:t>
            </a:r>
            <a:r>
              <a:rPr lang="ru-RU" dirty="0">
                <a:latin typeface="Century Gothic" panose="020B0502020202020204" pitchFamily="34" charset="0"/>
              </a:rPr>
              <a:t> Маликова В. Е.;</a:t>
            </a:r>
          </a:p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Роль:</a:t>
            </a:r>
            <a:r>
              <a:rPr lang="ru-RU" dirty="0">
                <a:latin typeface="Century Gothic" panose="020B0502020202020204" pitchFamily="34" charset="0"/>
              </a:rPr>
              <a:t> Разработчик 1С;</a:t>
            </a:r>
          </a:p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Зона ответственности: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проектирование структуры базы данных;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настройка платформы 1С;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интеграция с веб‑сайтом через </a:t>
            </a:r>
            <a:r>
              <a:rPr lang="en" sz="1600" dirty="0">
                <a:latin typeface="Century Gothic" panose="020B0502020202020204" pitchFamily="34" charset="0"/>
              </a:rPr>
              <a:t>REST API;</a:t>
            </a:r>
            <a:endParaRPr lang="ru-RU" sz="1600" dirty="0">
              <a:latin typeface="Century Gothic" panose="020B0502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1600" dirty="0">
                <a:latin typeface="Century Gothic" panose="020B0502020202020204" pitchFamily="34" charset="0"/>
              </a:rPr>
              <a:t>обеспечение актуальности корпоративных данных.</a:t>
            </a: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0"/>
          <p:cNvSpPr txBox="1">
            <a:spLocks noGrp="1"/>
          </p:cNvSpPr>
          <p:nvPr>
            <p:ph type="title"/>
          </p:nvPr>
        </p:nvSpPr>
        <p:spPr>
          <a:xfrm>
            <a:off x="514863" y="3241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l"/>
            <a:r>
              <a:rPr lang="ru-RU" sz="2800" dirty="0"/>
              <a:t>Ц</a:t>
            </a:r>
            <a:r>
              <a:rPr lang="ru-RU" sz="2800" dirty="0">
                <a:latin typeface="Century Gothic" panose="020B0502020202020204" pitchFamily="34" charset="0"/>
              </a:rPr>
              <a:t>ель: </a:t>
            </a:r>
            <a:r>
              <a:rPr lang="ru-RU" sz="2800" b="0" dirty="0">
                <a:latin typeface="Century Gothic" panose="020B0502020202020204" pitchFamily="34" charset="0"/>
              </a:rPr>
              <a:t>Создать информационную базу на платформе 1С и общедоступный внутрикорпоративный сайт с поиском по данным этой базы.</a:t>
            </a:r>
            <a:endParaRPr sz="28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sp>
        <p:nvSpPr>
          <p:cNvPr id="793" name="Google Shape;793;p40"/>
          <p:cNvSpPr txBox="1">
            <a:spLocks noGrp="1"/>
          </p:cNvSpPr>
          <p:nvPr>
            <p:ph type="body" idx="7"/>
          </p:nvPr>
        </p:nvSpPr>
        <p:spPr>
          <a:xfrm>
            <a:off x="2706787" y="2639714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 algn="ctr">
              <a:buNone/>
            </a:pPr>
            <a:r>
              <a:rPr lang="ru-RU" sz="1800" dirty="0">
                <a:latin typeface="Century Gothic" panose="020B0502020202020204" pitchFamily="34" charset="0"/>
              </a:rPr>
              <a:t>Наполнить базу актуальными данными по сотрудникам и рабочим местам.</a:t>
            </a:r>
          </a:p>
        </p:txBody>
      </p:sp>
      <p:sp>
        <p:nvSpPr>
          <p:cNvPr id="795" name="Google Shape;795;p40"/>
          <p:cNvSpPr txBox="1">
            <a:spLocks noGrp="1"/>
          </p:cNvSpPr>
          <p:nvPr>
            <p:ph type="body" idx="8"/>
          </p:nvPr>
        </p:nvSpPr>
        <p:spPr>
          <a:xfrm>
            <a:off x="5097137" y="2639714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 algn="ctr">
              <a:buNone/>
            </a:pPr>
            <a:r>
              <a:rPr lang="ru-RU" sz="1800" dirty="0">
                <a:latin typeface="Century Gothic" panose="020B0502020202020204" pitchFamily="34" charset="0"/>
              </a:rPr>
              <a:t>Разработать веб‑сайт с функционалом поиска и отображения данных.</a:t>
            </a:r>
          </a:p>
        </p:txBody>
      </p:sp>
      <p:sp>
        <p:nvSpPr>
          <p:cNvPr id="797" name="Google Shape;797;p40"/>
          <p:cNvSpPr txBox="1">
            <a:spLocks noGrp="1"/>
          </p:cNvSpPr>
          <p:nvPr>
            <p:ph type="body" idx="9"/>
          </p:nvPr>
        </p:nvSpPr>
        <p:spPr>
          <a:xfrm>
            <a:off x="7171050" y="2670395"/>
            <a:ext cx="2314163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 algn="ctr">
              <a:buNone/>
            </a:pPr>
            <a:r>
              <a:rPr lang="ru-RU" sz="1800" dirty="0">
                <a:latin typeface="Century Gothic" panose="020B0502020202020204" pitchFamily="34" charset="0"/>
              </a:rPr>
              <a:t>Обеспечить синхронизацию данных между 1С и веб‑сайтом</a:t>
            </a:r>
          </a:p>
        </p:txBody>
      </p:sp>
      <p:sp>
        <p:nvSpPr>
          <p:cNvPr id="800" name="Google Shape;800;p40"/>
          <p:cNvSpPr txBox="1">
            <a:spLocks noGrp="1"/>
          </p:cNvSpPr>
          <p:nvPr>
            <p:ph type="body" idx="6"/>
          </p:nvPr>
        </p:nvSpPr>
        <p:spPr>
          <a:xfrm>
            <a:off x="0" y="2888109"/>
            <a:ext cx="2314163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 algn="ctr">
              <a:buNone/>
            </a:pPr>
            <a:r>
              <a:rPr lang="ru-RU" sz="1800" dirty="0">
                <a:latin typeface="Century Gothic" panose="020B0502020202020204" pitchFamily="34" charset="0"/>
              </a:rPr>
              <a:t>Разработать структуру информационной базы данных в 1С.</a:t>
            </a:r>
          </a:p>
        </p:txBody>
      </p:sp>
      <p:sp>
        <p:nvSpPr>
          <p:cNvPr id="801" name="Google Shape;801;p40"/>
          <p:cNvSpPr txBox="1">
            <a:spLocks noGrp="1"/>
          </p:cNvSpPr>
          <p:nvPr>
            <p:ph type="body" idx="13"/>
          </p:nvPr>
        </p:nvSpPr>
        <p:spPr>
          <a:xfrm>
            <a:off x="9637535" y="3105824"/>
            <a:ext cx="2314189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 algn="ctr">
              <a:buNone/>
            </a:pPr>
            <a:r>
              <a:rPr lang="ru-RU" sz="1800" dirty="0">
                <a:latin typeface="Century Gothic" panose="020B0502020202020204" pitchFamily="34" charset="0"/>
              </a:rPr>
              <a:t>Протестировать и внедрить решение.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>
            <a:spLocks noGrp="1"/>
          </p:cNvSpPr>
          <p:nvPr>
            <p:ph type="title"/>
          </p:nvPr>
        </p:nvSpPr>
        <p:spPr>
          <a:xfrm>
            <a:off x="1366686" y="863614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3"/>
                </a:solidFill>
                <a:latin typeface="Century Gothic" panose="020B0502020202020204" pitchFamily="34" charset="0"/>
              </a:rPr>
              <a:t>Технологический стек</a:t>
            </a:r>
            <a:endParaRPr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sp>
        <p:nvSpPr>
          <p:cNvPr id="419" name="Google Shape;419;p26"/>
          <p:cNvSpPr txBox="1">
            <a:spLocks noGrp="1"/>
          </p:cNvSpPr>
          <p:nvPr>
            <p:ph type="body" idx="2"/>
          </p:nvPr>
        </p:nvSpPr>
        <p:spPr>
          <a:xfrm>
            <a:off x="1663200" y="1621371"/>
            <a:ext cx="8865600" cy="209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buNone/>
            </a:pPr>
            <a:r>
              <a:rPr lang="en" b="1" dirty="0">
                <a:latin typeface="Century Gothic" panose="020B0502020202020204" pitchFamily="34" charset="0"/>
              </a:rPr>
              <a:t>Frontend:</a:t>
            </a:r>
            <a:endParaRPr lang="en" dirty="0">
              <a:latin typeface="Century Gothic" panose="020B0502020202020204" pitchFamily="34" charset="0"/>
            </a:endParaRPr>
          </a:p>
          <a:p>
            <a:r>
              <a:rPr lang="en" dirty="0">
                <a:latin typeface="Century Gothic" panose="020B0502020202020204" pitchFamily="34" charset="0"/>
              </a:rPr>
              <a:t>HTML5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en" dirty="0">
                <a:latin typeface="Century Gothic" panose="020B0502020202020204" pitchFamily="34" charset="0"/>
              </a:rPr>
              <a:t>CSS3 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en" dirty="0">
                <a:latin typeface="Century Gothic" panose="020B0502020202020204" pitchFamily="34" charset="0"/>
              </a:rPr>
              <a:t>React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en" dirty="0">
                <a:latin typeface="Century Gothic" panose="020B0502020202020204" pitchFamily="34" charset="0"/>
              </a:rPr>
              <a:t>React Router </a:t>
            </a:r>
            <a:endParaRPr lang="ru-RU" dirty="0">
              <a:latin typeface="Century Gothic" panose="020B0502020202020204" pitchFamily="34" charset="0"/>
            </a:endParaRPr>
          </a:p>
          <a:p>
            <a:pPr marL="114300" indent="0">
              <a:buNone/>
            </a:pPr>
            <a:r>
              <a:rPr lang="en" b="1" dirty="0">
                <a:latin typeface="Century Gothic" panose="020B0502020202020204" pitchFamily="34" charset="0"/>
              </a:rPr>
              <a:t>Backend </a:t>
            </a:r>
            <a:r>
              <a:rPr lang="ru-RU" b="1" dirty="0">
                <a:latin typeface="Century Gothic" panose="020B0502020202020204" pitchFamily="34" charset="0"/>
              </a:rPr>
              <a:t>и интеграция: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Платформа 1С </a:t>
            </a:r>
          </a:p>
          <a:p>
            <a:r>
              <a:rPr lang="en" dirty="0">
                <a:latin typeface="Century Gothic" panose="020B0502020202020204" pitchFamily="34" charset="0"/>
              </a:rPr>
              <a:t>REST API </a:t>
            </a:r>
            <a:endParaRPr lang="ru-RU" dirty="0">
              <a:latin typeface="Century Gothic" panose="020B0502020202020204" pitchFamily="34" charset="0"/>
            </a:endParaRPr>
          </a:p>
          <a:p>
            <a:pPr marL="114300" indent="0">
              <a:buNone/>
            </a:pPr>
            <a:r>
              <a:rPr lang="ru-RU" b="1" dirty="0">
                <a:latin typeface="Century Gothic" panose="020B0502020202020204" pitchFamily="34" charset="0"/>
              </a:rPr>
              <a:t>База данных:</a:t>
            </a:r>
            <a:endParaRPr lang="ru-RU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Встроенная СУБД 1С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496259" y="101780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b="0" dirty="0">
                <a:latin typeface="Century Gothic" panose="020B0502020202020204" pitchFamily="34" charset="0"/>
              </a:rPr>
              <a:t>Функционал и ключевые преимущества</a:t>
            </a:r>
            <a:endParaRPr sz="6000" dirty="0">
              <a:solidFill>
                <a:schemeClr val="accent2"/>
              </a:solidFill>
              <a:latin typeface="Century Gothic" panose="020B0502020202020204" pitchFamily="34" charset="0"/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639750" y="172818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>
              <a:buNone/>
            </a:pPr>
            <a:r>
              <a:rPr lang="ru-RU" sz="1600" b="1" dirty="0">
                <a:latin typeface="Century Gothic" panose="020B0502020202020204" pitchFamily="34" charset="0"/>
              </a:rPr>
              <a:t>Основной функционал:</a:t>
            </a:r>
            <a:endParaRPr lang="ru-RU" sz="1600" dirty="0">
              <a:latin typeface="Century Gothic" panose="020B0502020202020204" pitchFamily="34" charset="0"/>
            </a:endParaRPr>
          </a:p>
          <a:p>
            <a:r>
              <a:rPr lang="ru-RU" sz="1600" dirty="0">
                <a:latin typeface="Century Gothic" panose="020B0502020202020204" pitchFamily="34" charset="0"/>
              </a:rPr>
              <a:t>Поиск сотрудников по ФИО.</a:t>
            </a:r>
          </a:p>
          <a:p>
            <a:r>
              <a:rPr lang="ru-RU" sz="1600" dirty="0">
                <a:latin typeface="Century Gothic" panose="020B0502020202020204" pitchFamily="34" charset="0"/>
              </a:rPr>
              <a:t>Отображение результатов поиска в виде списка.</a:t>
            </a:r>
          </a:p>
          <a:p>
            <a:r>
              <a:rPr lang="ru-RU" sz="1600" dirty="0">
                <a:latin typeface="Century Gothic" panose="020B0502020202020204" pitchFamily="34" charset="0"/>
              </a:rPr>
              <a:t>Просмотр фото рабочего места.</a:t>
            </a:r>
          </a:p>
          <a:p>
            <a:pPr marL="139700" indent="0">
              <a:buNone/>
            </a:pPr>
            <a:r>
              <a:rPr lang="ru-RU" sz="1600" b="1" dirty="0">
                <a:latin typeface="Century Gothic" panose="020B0502020202020204" pitchFamily="34" charset="0"/>
              </a:rPr>
              <a:t>Ключевые преимущества:</a:t>
            </a:r>
            <a:endParaRPr lang="ru-RU" sz="1600" dirty="0">
              <a:latin typeface="Century Gothic" panose="020B0502020202020204" pitchFamily="34" charset="0"/>
            </a:endParaRPr>
          </a:p>
          <a:p>
            <a:r>
              <a:rPr lang="ru-RU" sz="1600" b="1" dirty="0">
                <a:latin typeface="Century Gothic" panose="020B0502020202020204" pitchFamily="34" charset="0"/>
              </a:rPr>
              <a:t>Приятный внешний вид</a:t>
            </a:r>
          </a:p>
          <a:p>
            <a:r>
              <a:rPr lang="en" sz="1600" b="1" dirty="0">
                <a:latin typeface="Century Gothic" panose="020B0502020202020204" pitchFamily="34" charset="0"/>
              </a:rPr>
              <a:t>Killer feature:</a:t>
            </a:r>
            <a:r>
              <a:rPr lang="en" sz="1600" dirty="0">
                <a:latin typeface="Century Gothic" panose="020B0502020202020204" pitchFamily="34" charset="0"/>
              </a:rPr>
              <a:t> </a:t>
            </a:r>
            <a:r>
              <a:rPr lang="ru-RU" sz="1600" dirty="0">
                <a:latin typeface="Century Gothic" panose="020B0502020202020204" pitchFamily="34" charset="0"/>
              </a:rPr>
              <a:t>отображение рабочего места сотрудника на плане этажа — позволяет мгновенно найти нужное место в офисе.</a:t>
            </a:r>
          </a:p>
          <a:p>
            <a:r>
              <a:rPr lang="ru-RU" sz="1600" b="1" dirty="0">
                <a:latin typeface="Century Gothic" panose="020B0502020202020204" pitchFamily="34" charset="0"/>
              </a:rPr>
              <a:t>Скорость работы</a:t>
            </a:r>
          </a:p>
          <a:p>
            <a:r>
              <a:rPr lang="ru-RU" sz="1600" b="1" dirty="0">
                <a:latin typeface="Century Gothic" panose="020B0502020202020204" pitchFamily="34" charset="0"/>
              </a:rPr>
              <a:t>Актуальность данных</a:t>
            </a:r>
          </a:p>
          <a:p>
            <a:r>
              <a:rPr lang="ru-RU" sz="1600" b="1" dirty="0">
                <a:latin typeface="Century Gothic" panose="020B0502020202020204" pitchFamily="34" charset="0"/>
              </a:rPr>
              <a:t>Удобство использования</a:t>
            </a:r>
            <a:endParaRPr lang="ru-RU" sz="16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>
            <a:spLocks noGrp="1"/>
          </p:cNvSpPr>
          <p:nvPr>
            <p:ph type="title"/>
          </p:nvPr>
        </p:nvSpPr>
        <p:spPr>
          <a:xfrm>
            <a:off x="1251575" y="919825"/>
            <a:ext cx="10158600" cy="4720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C7F0A2-B8E1-ED03-59DB-D0A53528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29" b="8095"/>
          <a:stretch>
            <a:fillRect/>
          </a:stretch>
        </p:blipFill>
        <p:spPr>
          <a:xfrm>
            <a:off x="1683565" y="709077"/>
            <a:ext cx="4944799" cy="2465474"/>
          </a:xfrm>
          <a:prstGeom prst="rect">
            <a:avLst/>
          </a:prstGeom>
          <a:ln w="38100">
            <a:solidFill>
              <a:schemeClr val="bg1">
                <a:lumMod val="75000"/>
                <a:lumOff val="25000"/>
              </a:schemeClr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8C8793-9647-8664-7113-F1C954ED1F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32" b="11681"/>
          <a:stretch>
            <a:fillRect/>
          </a:stretch>
        </p:blipFill>
        <p:spPr>
          <a:xfrm>
            <a:off x="5992009" y="1647936"/>
            <a:ext cx="5238974" cy="2524099"/>
          </a:xfrm>
          <a:prstGeom prst="rect">
            <a:avLst/>
          </a:prstGeom>
          <a:ln w="38100">
            <a:solidFill>
              <a:schemeClr val="bg1">
                <a:lumMod val="75000"/>
                <a:lumOff val="25000"/>
              </a:schemeClr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AB4DC6-3362-64EC-FBCC-FAFF44A17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784" b="8094"/>
          <a:stretch>
            <a:fillRect/>
          </a:stretch>
        </p:blipFill>
        <p:spPr>
          <a:xfrm>
            <a:off x="1724544" y="3385299"/>
            <a:ext cx="4862839" cy="2465474"/>
          </a:xfrm>
          <a:prstGeom prst="rect">
            <a:avLst/>
          </a:prstGeom>
          <a:ln w="38100">
            <a:solidFill>
              <a:schemeClr val="bg1">
                <a:lumMod val="75000"/>
                <a:lumOff val="25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"/>
          <p:cNvSpPr txBox="1">
            <a:spLocks noGrp="1"/>
          </p:cNvSpPr>
          <p:nvPr>
            <p:ph type="title" idx="2"/>
          </p:nvPr>
        </p:nvSpPr>
        <p:spPr>
          <a:xfrm>
            <a:off x="715025" y="3647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ru-RU" dirty="0">
                <a:latin typeface="Century Gothic" panose="020B0502020202020204" pitchFamily="34" charset="0"/>
              </a:rPr>
              <a:t>Перспективы развития проекта</a:t>
            </a:r>
            <a:endParaRPr sz="6000" dirty="0">
              <a:solidFill>
                <a:schemeClr val="accent2"/>
              </a:solidFill>
              <a:latin typeface="Century Gothic" panose="020B0502020202020204" pitchFamily="34" charset="0"/>
            </a:endParaRPr>
          </a:p>
        </p:txBody>
      </p:sp>
      <p:sp>
        <p:nvSpPr>
          <p:cNvPr id="529" name="Google Shape;529;p36"/>
          <p:cNvSpPr txBox="1">
            <a:spLocks noGrp="1"/>
          </p:cNvSpPr>
          <p:nvPr>
            <p:ph type="body" idx="5"/>
          </p:nvPr>
        </p:nvSpPr>
        <p:spPr>
          <a:xfrm>
            <a:off x="4381870" y="2966400"/>
            <a:ext cx="3476063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улучшение пользовательского опыта при просмотре информации о сотруднике и рабочем месте.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30" name="Google Shape;530;p36"/>
          <p:cNvSpPr txBox="1">
            <a:spLocks noGrp="1"/>
          </p:cNvSpPr>
          <p:nvPr>
            <p:ph type="body" idx="6"/>
          </p:nvPr>
        </p:nvSpPr>
        <p:spPr>
          <a:xfrm>
            <a:off x="331862" y="3534571"/>
            <a:ext cx="3682805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88900" indent="0">
              <a:buNone/>
            </a:pPr>
            <a:r>
              <a:rPr lang="ru-RU" dirty="0"/>
              <a:t>оптимизация структуры данных для повышения производительности и удобства поддержки.</a:t>
            </a:r>
          </a:p>
        </p:txBody>
      </p:sp>
      <p:sp>
        <p:nvSpPr>
          <p:cNvPr id="531" name="Google Shape;531;p36"/>
          <p:cNvSpPr txBox="1">
            <a:spLocks noGrp="1"/>
          </p:cNvSpPr>
          <p:nvPr>
            <p:ph type="title"/>
          </p:nvPr>
        </p:nvSpPr>
        <p:spPr>
          <a:xfrm>
            <a:off x="699065" y="2465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ru-RU" sz="2800" b="1" dirty="0">
                <a:latin typeface="Century Gothic" panose="020B0502020202020204" pitchFamily="34" charset="0"/>
              </a:rPr>
              <a:t>Нормализация базы данных</a:t>
            </a:r>
            <a:endParaRPr sz="2800" dirty="0">
              <a:latin typeface="Century Gothic" panose="020B0502020202020204" pitchFamily="34" charset="0"/>
            </a:endParaRPr>
          </a:p>
        </p:txBody>
      </p:sp>
      <p:sp>
        <p:nvSpPr>
          <p:cNvPr id="532" name="Google Shape;532;p36"/>
          <p:cNvSpPr txBox="1">
            <a:spLocks noGrp="1"/>
          </p:cNvSpPr>
          <p:nvPr>
            <p:ph type="title" idx="3"/>
          </p:nvPr>
        </p:nvSpPr>
        <p:spPr>
          <a:xfrm>
            <a:off x="4621800" y="18708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ru-RU" sz="2800" b="1" dirty="0">
                <a:latin typeface="Century Gothic" panose="020B0502020202020204" pitchFamily="34" charset="0"/>
              </a:rPr>
              <a:t>Доработка </a:t>
            </a:r>
            <a:r>
              <a:rPr lang="en" sz="2800" b="1" dirty="0">
                <a:latin typeface="Century Gothic" panose="020B0502020202020204" pitchFamily="34" charset="0"/>
              </a:rPr>
              <a:t>UX </a:t>
            </a:r>
            <a:r>
              <a:rPr lang="ru-RU" sz="2800" b="1" dirty="0">
                <a:latin typeface="Century Gothic" panose="020B0502020202020204" pitchFamily="34" charset="0"/>
              </a:rPr>
              <a:t>на карточках</a:t>
            </a:r>
            <a:endParaRPr sz="2800" dirty="0">
              <a:latin typeface="Century Gothic" panose="020B0502020202020204" pitchFamily="34" charset="0"/>
            </a:endParaRPr>
          </a:p>
        </p:txBody>
      </p:sp>
      <p:sp>
        <p:nvSpPr>
          <p:cNvPr id="533" name="Google Shape;533;p36"/>
          <p:cNvSpPr txBox="1">
            <a:spLocks noGrp="1"/>
          </p:cNvSpPr>
          <p:nvPr>
            <p:ph type="title" idx="4"/>
          </p:nvPr>
        </p:nvSpPr>
        <p:spPr>
          <a:xfrm>
            <a:off x="8481454" y="2940271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ru-RU" sz="2800" b="1" dirty="0">
                <a:latin typeface="Century Gothic" panose="020B0502020202020204" pitchFamily="34" charset="0"/>
              </a:rPr>
              <a:t>Добавление большего количества изображений</a:t>
            </a:r>
            <a:endParaRPr sz="2800" dirty="0">
              <a:latin typeface="Century Gothic" panose="020B0502020202020204" pitchFamily="34" charset="0"/>
            </a:endParaRPr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1"/>
          </p:nvPr>
        </p:nvSpPr>
        <p:spPr>
          <a:xfrm>
            <a:off x="8266312" y="3997171"/>
            <a:ext cx="3378684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фото сотрудников, фото зданий и помещений для большей наглядности.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33986" y="2036046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entury Gothic" panose="020B0502020202020204" pitchFamily="34" charset="0"/>
              </a:rPr>
              <a:t>Спасибо за внимание</a:t>
            </a:r>
            <a:endParaRPr sz="90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302</Words>
  <Application>Microsoft Office PowerPoint</Application>
  <PresentationFormat>Широкоэкранный</PresentationFormat>
  <Paragraphs>57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9" baseType="lpstr">
      <vt:lpstr>Arial</vt:lpstr>
      <vt:lpstr>Roboto Mono SemiBold</vt:lpstr>
      <vt:lpstr>Roboto</vt:lpstr>
      <vt:lpstr>Roboto Mono</vt:lpstr>
      <vt:lpstr>Aldrich</vt:lpstr>
      <vt:lpstr>Abril Fatface</vt:lpstr>
      <vt:lpstr>Century Gothic</vt:lpstr>
      <vt:lpstr>Courier New</vt:lpstr>
      <vt:lpstr>Calibri</vt:lpstr>
      <vt:lpstr>Griffy</vt:lpstr>
      <vt:lpstr>SlidesMania</vt:lpstr>
      <vt:lpstr>Информационная база рабочих мест сотрудников АО «Гринатом»  </vt:lpstr>
      <vt:lpstr>Информация о команде</vt:lpstr>
      <vt:lpstr>Цель: Создать информационную базу на платформе 1С и общедоступный внутрикорпоративный сайт с поиском по данным этой базы.</vt:lpstr>
      <vt:lpstr>Технологический стек</vt:lpstr>
      <vt:lpstr>Функционал и ключевые преимущества</vt:lpstr>
      <vt:lpstr>Презентация PowerPoint</vt:lpstr>
      <vt:lpstr>Перспективы развития проекта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Владислав Баженов</cp:lastModifiedBy>
  <cp:revision>6</cp:revision>
  <dcterms:modified xsi:type="dcterms:W3CDTF">2026-04-17T08:33:28Z</dcterms:modified>
</cp:coreProperties>
</file>