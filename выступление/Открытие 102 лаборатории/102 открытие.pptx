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</p:sldIdLst>
  <p:sldSz cx="12192000" cy="6858000"/>
  <p:notesSz cx="6858000" cy="9144000"/>
  <p:embeddedFontLst>
    <p:embeddedFont>
      <p:font typeface="Roboto" panose="02000000000000000000" pitchFamily="2" charset="0"/>
      <p:regular r:id="rId7"/>
      <p:bold r:id="rId8"/>
      <p:italic r:id="rId9"/>
      <p:boldItalic r:id="rId10"/>
    </p:embeddedFont>
    <p:embeddedFont>
      <p:font typeface="Roboto Medium" panose="02000000000000000000" pitchFamily="2" charset="0"/>
      <p:regular r:id="rId11"/>
      <p:italic r:id="rId1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A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5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0CBBBE-A34F-2D94-65B4-C2B7C771D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C34121B-6DFC-F51E-E8C3-4927314DC8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B7577E-F976-AB86-EC74-DEDF199FB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BEEDF-4417-4AF1-A255-1001241E9579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8A490A-CE46-DDC2-E8BB-5EDF9627A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7D31F3-5F2B-8EA9-67F2-EE86C385D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F77D0-7CEF-4660-9EF5-A3208B8B7F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2181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3D1820-3986-574E-FAAB-C02A2C776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40B417-6753-9180-7B1F-8F7603976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2C7354-B071-D4E3-DC6E-337136792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BEEDF-4417-4AF1-A255-1001241E9579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8B9E0B-1AC7-BD10-CEE6-F214AE9F8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0A1A1F-E40E-12DB-D749-493C66B31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F77D0-7CEF-4660-9EF5-A3208B8B7F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540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5A527F-B522-37C7-C523-1514539A7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0F2BDF3-F8C8-2EBE-FFE7-8789E9FC0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ECDAF5B-BAEE-70DF-CE2B-07E6C810B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BEEDF-4417-4AF1-A255-1001241E9579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9AC8D8-3633-15CA-8E39-76B24205A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4CDBAE-EEDC-7CD9-42DB-6D022D2B9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F77D0-7CEF-4660-9EF5-A3208B8B7F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5793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E6A4F9-DD2A-DD03-B282-3DA5A2A2C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977FB3-B42D-4F66-98BF-741E80694F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573D08-F621-6CEA-FDD0-A44433DF10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98BCF66-0AE3-5011-D520-3A1AA64FB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BEEDF-4417-4AF1-A255-1001241E9579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5878F35-A2ED-D58B-8BBD-5F20D26C2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CB026A3-4234-1551-56BD-C4594AEB1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F77D0-7CEF-4660-9EF5-A3208B8B7F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265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E08DB8-97E4-6EA0-D4E3-D70034EB7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75410DA-0E2F-5095-24E3-2F8B6EE0E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0CFA3B6-9967-936D-88EC-4B8B9186BA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B5B2882-C295-795F-6E25-23A5037CA9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9B4E6E4-CA03-296D-3870-BC75FC43C9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4212360-B321-9FCD-7528-374B62CA2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BEEDF-4417-4AF1-A255-1001241E9579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E9E54CF-9992-4970-5553-972A8B6C7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4EC2C12-7048-CDEC-07A9-FD86132EB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F77D0-7CEF-4660-9EF5-A3208B8B7F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8919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F71CED-9741-E15F-39BD-0C768A236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37BF130-6C1F-CFB0-2D6C-EA82D5102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BEEDF-4417-4AF1-A255-1001241E9579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19C4E4F-5D76-FBBA-DCB1-DF2050AD0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BA1BE36-F7DF-84AB-2651-B63A66D17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F77D0-7CEF-4660-9EF5-A3208B8B7F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2619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0050A85-7DC2-21F7-401C-7AB8FE13D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BEEDF-4417-4AF1-A255-1001241E9579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A9B9989-54A9-54A9-D82B-2EBA6FCB2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051E19C-E09A-FDF7-DDA8-37112FD40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F77D0-7CEF-4660-9EF5-A3208B8B7F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439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D5FE86-99D6-F4A0-EBDB-3E74ED74B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EDABE2-6011-EBFD-F228-DE4F8F200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6719639-473E-AB6A-95E8-9FC76061F7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2C7A4C6-72B8-6D39-583F-266C8FB02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BEEDF-4417-4AF1-A255-1001241E9579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2104875-36E5-1B8C-267B-B0816DC89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56756DD-E279-BAF0-9E9B-5FA9E66D8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F77D0-7CEF-4660-9EF5-A3208B8B7F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3533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CAF2DB-0005-6E67-B548-0318068A5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3073785-FC94-59FD-61BA-2311040C0B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AD7031D-F7E0-B46B-40DB-A9E530AB86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D1C3F4-8852-6BA6-8E21-4C6756133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BEEDF-4417-4AF1-A255-1001241E9579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C451964-7EAD-403C-D12E-B37431750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711F563-86A9-5FA8-3B99-33E7299DC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F77D0-7CEF-4660-9EF5-A3208B8B7F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9265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3CB259-201D-A5C5-D0DA-6E9F3B883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D1C84BC-2BAA-BDE5-9A04-ACFE4523A0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9F6891-D399-1405-1605-2D08E3CF2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BEEDF-4417-4AF1-A255-1001241E9579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C0A7D0-353E-ACF2-9C6B-E4460FC53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242337-1F30-4335-2F9E-226FC2091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F77D0-7CEF-4660-9EF5-A3208B8B7F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4727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1080DA7-A4A1-9B58-5118-80020CB3F1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57F8A12-1427-B5DE-0508-6C72A1CE96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B124758-E43B-C23F-88D5-BDBA00548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BEEDF-4417-4AF1-A255-1001241E9579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45F0C3-EB23-9D72-A5F6-8726B0D69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80750CC-CBB5-1A1B-B33D-4F2EC9B2C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F77D0-7CEF-4660-9EF5-A3208B8B7F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9533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9FD2AF-0A0B-893F-76EE-E902A0C36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F3C17BB-6D17-9B3A-BAE0-68E09EA594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923830-19F9-6D86-1A1C-8E814E9F46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FBEEDF-4417-4AF1-A255-1001241E9579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E20E4FD-CB58-197E-3192-D2F2519167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763893-2D83-6B24-D23C-DF34735429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6F77D0-7CEF-4660-9EF5-A3208B8B7F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6526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microsoft.com/office/2007/relationships/hdphoto" Target="../media/hdphoto2.wdp"/><Relationship Id="rId4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2">
            <a:extLst>
              <a:ext uri="{FF2B5EF4-FFF2-40B4-BE49-F238E27FC236}">
                <a16:creationId xmlns:a16="http://schemas.microsoft.com/office/drawing/2014/main" id="{FADB07C4-8D46-0C8B-44AE-4B0AF7B399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B27EB1F-31C2-472B-7E96-CC5013F6C6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26" t="5225" r="7091" b="5013"/>
          <a:stretch>
            <a:fillRect/>
          </a:stretch>
        </p:blipFill>
        <p:spPr>
          <a:xfrm>
            <a:off x="7945121" y="825334"/>
            <a:ext cx="3867574" cy="5406134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23D60738-6DAD-83A7-9008-CB81EBD586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46" r="1865" b="12557"/>
          <a:stretch>
            <a:fillRect/>
          </a:stretch>
        </p:blipFill>
        <p:spPr>
          <a:xfrm>
            <a:off x="0" y="-1"/>
            <a:ext cx="2419405" cy="180848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80BC753-EEE0-85AB-616B-E4605AFBDA41}"/>
              </a:ext>
            </a:extLst>
          </p:cNvPr>
          <p:cNvSpPr txBox="1"/>
          <p:nvPr/>
        </p:nvSpPr>
        <p:spPr>
          <a:xfrm>
            <a:off x="379305" y="2438201"/>
            <a:ext cx="752385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rgbClr val="002060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Кейс «Рабочие места</a:t>
            </a:r>
            <a:r>
              <a:rPr lang="en-US" sz="4000" dirty="0">
                <a:solidFill>
                  <a:srgbClr val="002060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ru-RU" sz="4000" dirty="0">
                <a:solidFill>
                  <a:srgbClr val="002060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сотрудников»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632587-2297-85FB-8EB4-72C63B76D498}"/>
              </a:ext>
            </a:extLst>
          </p:cNvPr>
          <p:cNvSpPr txBox="1"/>
          <p:nvPr/>
        </p:nvSpPr>
        <p:spPr>
          <a:xfrm>
            <a:off x="0" y="5934670"/>
            <a:ext cx="61095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Студенты группы КПР-42д</a:t>
            </a:r>
            <a:br>
              <a:rPr lang="ru-RU" dirty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ru-RU" dirty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Баженов Владислав Степанович</a:t>
            </a:r>
          </a:p>
          <a:p>
            <a:r>
              <a:rPr lang="ru-RU" dirty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Маликова Виктория Евгеньевна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4B5035-4975-BCAE-4350-DA8CA4B233F1}"/>
              </a:ext>
            </a:extLst>
          </p:cNvPr>
          <p:cNvSpPr txBox="1"/>
          <p:nvPr/>
        </p:nvSpPr>
        <p:spPr>
          <a:xfrm>
            <a:off x="379305" y="3761640"/>
            <a:ext cx="75238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Хакатон</a:t>
            </a:r>
          </a:p>
        </p:txBody>
      </p:sp>
    </p:spTree>
    <p:extLst>
      <p:ext uri="{BB962C8B-B14F-4D97-AF65-F5344CB8AC3E}">
        <p14:creationId xmlns:p14="http://schemas.microsoft.com/office/powerpoint/2010/main" val="4129302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E5B744-EE90-672B-EDD5-AE38921DB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3C7707F1-A24D-CC63-4C28-87A3842CBACF}"/>
              </a:ext>
            </a:extLst>
          </p:cNvPr>
          <p:cNvSpPr/>
          <p:nvPr/>
        </p:nvSpPr>
        <p:spPr>
          <a:xfrm>
            <a:off x="809413" y="4160200"/>
            <a:ext cx="1835150" cy="1879600"/>
          </a:xfrm>
          <a:prstGeom prst="round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34475F7-D143-DC72-7ED7-8F8A04D8A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876" y="3860798"/>
            <a:ext cx="4384870" cy="2478405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76A78DE-2DDB-8AB3-02BA-F807E2D352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225" y="288503"/>
            <a:ext cx="5423302" cy="2929467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0BA92A8-1EFE-BC78-97B4-7CAF5EA7AB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46" r="1865" b="12557"/>
          <a:stretch>
            <a:fillRect/>
          </a:stretch>
        </p:blipFill>
        <p:spPr>
          <a:xfrm>
            <a:off x="0" y="-1"/>
            <a:ext cx="1618827" cy="121005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02A32CC-F231-AC30-B328-213D46DFED0D}"/>
              </a:ext>
            </a:extLst>
          </p:cNvPr>
          <p:cNvSpPr txBox="1"/>
          <p:nvPr/>
        </p:nvSpPr>
        <p:spPr>
          <a:xfrm>
            <a:off x="190977" y="2105561"/>
            <a:ext cx="75238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rgbClr val="002060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Чем полезен 1С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D046CE-0FD9-6BD8-097B-401ADCF022F5}"/>
              </a:ext>
            </a:extLst>
          </p:cNvPr>
          <p:cNvSpPr txBox="1"/>
          <p:nvPr/>
        </p:nvSpPr>
        <p:spPr>
          <a:xfrm>
            <a:off x="190977" y="2817860"/>
            <a:ext cx="75238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Помогает бизнесу вести учёт </a:t>
            </a:r>
          </a:p>
          <a:p>
            <a:r>
              <a:rPr lang="ru-RU" sz="2000" dirty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и автоматизировать процессы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56FA4ACE-3719-33DF-E71D-989A673C27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961" b="98039" l="7759" r="100000">
                        <a14:foregroundMark x1="76724" y1="36275" x2="76724" y2="36275"/>
                        <a14:foregroundMark x1="78448" y1="57843" x2="78448" y2="57843"/>
                        <a14:foregroundMark x1="79310" y1="76471" x2="80172" y2="78431"/>
                        <a14:foregroundMark x1="55172" y1="82353" x2="55172" y2="82353"/>
                        <a14:foregroundMark x1="50862" y1="83333" x2="37069" y2="79412"/>
                        <a14:foregroundMark x1="31034" y1="78431" x2="26724" y2="77451"/>
                        <a14:foregroundMark x1="25000" y1="74510" x2="25000" y2="67647"/>
                        <a14:foregroundMark x1="25000" y1="62745" x2="25862" y2="57843"/>
                        <a14:foregroundMark x1="26724" y1="52941" x2="27586" y2="44118"/>
                        <a14:foregroundMark x1="27586" y1="42157" x2="27586" y2="37255"/>
                        <a14:foregroundMark x1="27586" y1="35294" x2="28448" y2="26471"/>
                        <a14:foregroundMark x1="28448" y1="24510" x2="28448" y2="24510"/>
                        <a14:foregroundMark x1="31034" y1="23529" x2="36207" y2="22549"/>
                        <a14:foregroundMark x1="40517" y1="22549" x2="53448" y2="21569"/>
                        <a14:foregroundMark x1="56034" y1="20588" x2="60345" y2="20588"/>
                        <a14:foregroundMark x1="65517" y1="20588" x2="77586" y2="24510"/>
                        <a14:foregroundMark x1="78448" y1="25490" x2="81034" y2="28431"/>
                        <a14:foregroundMark x1="81897" y1="32353" x2="83621" y2="42157"/>
                        <a14:foregroundMark x1="84483" y1="46078" x2="85345" y2="50980"/>
                        <a14:foregroundMark x1="85345" y1="53922" x2="84483" y2="62745"/>
                        <a14:foregroundMark x1="83621" y1="67647" x2="81897" y2="74510"/>
                        <a14:foregroundMark x1="79310" y1="77451" x2="72414" y2="79412"/>
                        <a14:foregroundMark x1="64655" y1="80392" x2="62931" y2="84314"/>
                        <a14:foregroundMark x1="72414" y1="94118" x2="68103" y2="88235"/>
                        <a14:backgroundMark x1="8621" y1="14706" x2="8621" y2="14706"/>
                        <a14:backgroundMark x1="5172" y1="64706" x2="6034" y2="69608"/>
                        <a14:backgroundMark x1="5172" y1="74510" x2="5172" y2="80392"/>
                        <a14:backgroundMark x1="5172" y1="82353" x2="5172" y2="82353"/>
                        <a14:backgroundMark x1="6034" y1="84314" x2="6034" y2="87255"/>
                        <a14:backgroundMark x1="6897" y1="87255" x2="6897" y2="87255"/>
                        <a14:backgroundMark x1="10345" y1="91176" x2="10345" y2="91176"/>
                        <a14:backgroundMark x1="12069" y1="91176" x2="12069" y2="91176"/>
                        <a14:backgroundMark x1="13793" y1="91176" x2="13793" y2="91176"/>
                        <a14:backgroundMark x1="87069" y1="92157" x2="87069" y2="92157"/>
                        <a14:backgroundMark x1="89655" y1="91176" x2="92241" y2="88235"/>
                        <a14:backgroundMark x1="92241" y1="87255" x2="92241" y2="87255"/>
                        <a14:backgroundMark x1="93103" y1="84314" x2="93103" y2="81373"/>
                        <a14:backgroundMark x1="93103" y1="80392" x2="93103" y2="80392"/>
                        <a14:backgroundMark x1="93103" y1="79412" x2="93103" y2="76471"/>
                        <a14:backgroundMark x1="94828" y1="26471" x2="94828" y2="26471"/>
                        <a14:backgroundMark x1="93103" y1="24510" x2="92241" y2="21569"/>
                        <a14:backgroundMark x1="91379" y1="21569" x2="91379" y2="19608"/>
                        <a14:backgroundMark x1="89655" y1="17647" x2="89655" y2="14706"/>
                        <a14:backgroundMark x1="88793" y1="14706" x2="88793" y2="14706"/>
                        <a14:backgroundMark x1="87931" y1="12745" x2="87069" y2="10784"/>
                        <a14:backgroundMark x1="87069" y1="10784" x2="87069" y2="8824"/>
                        <a14:backgroundMark x1="2586" y1="26471" x2="2586" y2="26471"/>
                        <a14:backgroundMark x1="5172" y1="22549" x2="8621" y2="16667"/>
                        <a14:backgroundMark x1="8621" y1="14706" x2="11207" y2="11765"/>
                        <a14:backgroundMark x1="12069" y1="11765" x2="14655" y2="9804"/>
                        <a14:backgroundMark x1="15517" y1="8824" x2="15517" y2="8824"/>
                        <a14:backgroundMark x1="17241" y1="6863" x2="23276" y2="5882"/>
                        <a14:backgroundMark x1="23276" y1="5882" x2="23276" y2="5882"/>
                        <a14:backgroundMark x1="31034" y1="95098" x2="31034" y2="95098"/>
                        <a14:backgroundMark x1="70690" y1="95098" x2="70690" y2="95098"/>
                        <a14:backgroundMark x1="70690" y1="95098" x2="70690" y2="95098"/>
                        <a14:backgroundMark x1="73276" y1="94118" x2="73276" y2="94118"/>
                        <a14:backgroundMark x1="73276" y1="93137" x2="73276" y2="92157"/>
                        <a14:backgroundMark x1="73276" y1="92157" x2="73276" y2="92157"/>
                        <a14:backgroundMark x1="73276" y1="92157" x2="73276" y2="92157"/>
                        <a14:backgroundMark x1="72414" y1="92157" x2="70690" y2="93137"/>
                        <a14:backgroundMark x1="70690" y1="94118" x2="70690" y2="94118"/>
                        <a14:backgroundMark x1="69828" y1="95098" x2="69828" y2="95098"/>
                        <a14:backgroundMark x1="68103" y1="95098" x2="68103" y2="9509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76032" y="4256628"/>
            <a:ext cx="901912" cy="793061"/>
          </a:xfrm>
          <a:prstGeom prst="rect">
            <a:avLst/>
          </a:prstGeom>
        </p:spPr>
      </p:pic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FC1A03ED-C63E-5897-1F04-AB601D3487CB}"/>
              </a:ext>
            </a:extLst>
          </p:cNvPr>
          <p:cNvSpPr/>
          <p:nvPr/>
        </p:nvSpPr>
        <p:spPr>
          <a:xfrm>
            <a:off x="2809663" y="4173850"/>
            <a:ext cx="1835150" cy="1879600"/>
          </a:xfrm>
          <a:prstGeom prst="round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6AA714EC-E24E-8A6B-BB13-B068A4BC9F89}"/>
              </a:ext>
            </a:extLst>
          </p:cNvPr>
          <p:cNvSpPr/>
          <p:nvPr/>
        </p:nvSpPr>
        <p:spPr>
          <a:xfrm>
            <a:off x="4809913" y="4173850"/>
            <a:ext cx="1835150" cy="1879600"/>
          </a:xfrm>
          <a:prstGeom prst="round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2F5E5AB5-A2F5-0C52-1345-F409FFF9736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6681" t="10854" r="16195" b="9999"/>
          <a:stretch>
            <a:fillRect/>
          </a:stretch>
        </p:blipFill>
        <p:spPr>
          <a:xfrm>
            <a:off x="3328902" y="4269990"/>
            <a:ext cx="784216" cy="766340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648F038C-8CB2-59FC-9C82-749F95400D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8733" y="4244966"/>
            <a:ext cx="777510" cy="81638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E122AB0B-ABF0-BA70-8A57-84878093635E}"/>
              </a:ext>
            </a:extLst>
          </p:cNvPr>
          <p:cNvSpPr txBox="1"/>
          <p:nvPr/>
        </p:nvSpPr>
        <p:spPr>
          <a:xfrm>
            <a:off x="889026" y="5375467"/>
            <a:ext cx="167592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500" dirty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Бухгалтерия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9565AAF-3CAB-C781-3BF5-8510402B7B56}"/>
              </a:ext>
            </a:extLst>
          </p:cNvPr>
          <p:cNvSpPr txBox="1"/>
          <p:nvPr/>
        </p:nvSpPr>
        <p:spPr>
          <a:xfrm>
            <a:off x="2889276" y="5255485"/>
            <a:ext cx="167592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500" dirty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Учёт сотрудников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0211C8-D89C-9ED5-312E-FEF81002D422}"/>
              </a:ext>
            </a:extLst>
          </p:cNvPr>
          <p:cNvSpPr txBox="1"/>
          <p:nvPr/>
        </p:nvSpPr>
        <p:spPr>
          <a:xfrm>
            <a:off x="4889526" y="5370902"/>
            <a:ext cx="167592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500" dirty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Автоматизация</a:t>
            </a:r>
          </a:p>
        </p:txBody>
      </p:sp>
    </p:spTree>
    <p:extLst>
      <p:ext uri="{BB962C8B-B14F-4D97-AF65-F5344CB8AC3E}">
        <p14:creationId xmlns:p14="http://schemas.microsoft.com/office/powerpoint/2010/main" val="2172154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CAD827-EB79-9D87-F1E4-2C05568CF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4DC1B730-2D8B-87CE-DF18-F146DAB751D7}"/>
              </a:ext>
            </a:extLst>
          </p:cNvPr>
          <p:cNvSpPr/>
          <p:nvPr/>
        </p:nvSpPr>
        <p:spPr>
          <a:xfrm>
            <a:off x="322253" y="3390805"/>
            <a:ext cx="3646920" cy="950902"/>
          </a:xfrm>
          <a:prstGeom prst="round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8818451-F96B-6C81-C9CB-1FB2F5AEA5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46" r="1865" b="12557"/>
          <a:stretch>
            <a:fillRect/>
          </a:stretch>
        </p:blipFill>
        <p:spPr>
          <a:xfrm>
            <a:off x="0" y="-1"/>
            <a:ext cx="1618827" cy="121005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1EA5A02-9E3E-B066-31D8-354D3B7BB9BD}"/>
              </a:ext>
            </a:extLst>
          </p:cNvPr>
          <p:cNvSpPr txBox="1"/>
          <p:nvPr/>
        </p:nvSpPr>
        <p:spPr>
          <a:xfrm>
            <a:off x="190977" y="2105561"/>
            <a:ext cx="75238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rgbClr val="002060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Задача кейса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E5A5E4-C76B-CB54-F61B-4FA1601A5AA5}"/>
              </a:ext>
            </a:extLst>
          </p:cNvPr>
          <p:cNvSpPr txBox="1"/>
          <p:nvPr/>
        </p:nvSpPr>
        <p:spPr>
          <a:xfrm>
            <a:off x="190977" y="2836490"/>
            <a:ext cx="75238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Обязательные условия: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C2D1B0-D80A-4D12-BCDC-AC470484873E}"/>
              </a:ext>
            </a:extLst>
          </p:cNvPr>
          <p:cNvSpPr txBox="1"/>
          <p:nvPr/>
        </p:nvSpPr>
        <p:spPr>
          <a:xfrm>
            <a:off x="982132" y="3699215"/>
            <a:ext cx="287189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Web-</a:t>
            </a:r>
            <a:r>
              <a:rPr lang="ru-RU" sz="1500" dirty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сайт без </a:t>
            </a:r>
            <a:r>
              <a:rPr lang="en-US" sz="1500" dirty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web-</a:t>
            </a:r>
            <a:r>
              <a:rPr lang="ru-RU" sz="1500" dirty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клиента 1С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009F7A79-98A5-7393-98EB-438BE45BB69B}"/>
              </a:ext>
            </a:extLst>
          </p:cNvPr>
          <p:cNvSpPr/>
          <p:nvPr/>
        </p:nvSpPr>
        <p:spPr>
          <a:xfrm>
            <a:off x="322253" y="4514542"/>
            <a:ext cx="3646920" cy="950902"/>
          </a:xfrm>
          <a:prstGeom prst="round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91E4CE-0C20-9BAA-7F82-06E05FAB645B}"/>
              </a:ext>
            </a:extLst>
          </p:cNvPr>
          <p:cNvSpPr txBox="1"/>
          <p:nvPr/>
        </p:nvSpPr>
        <p:spPr>
          <a:xfrm>
            <a:off x="982133" y="4822952"/>
            <a:ext cx="278529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dirty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Информационная база на 1С</a:t>
            </a:r>
          </a:p>
        </p:txBody>
      </p:sp>
      <p:pic>
        <p:nvPicPr>
          <p:cNvPr id="2050" name="Picture 2" descr="Website icon png images | PNGWing">
            <a:extLst>
              <a:ext uri="{FF2B5EF4-FFF2-40B4-BE49-F238E27FC236}">
                <a16:creationId xmlns:a16="http://schemas.microsoft.com/office/drawing/2014/main" id="{FF867950-563A-AE75-06FF-A24D905ACE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228" y="3635845"/>
            <a:ext cx="449904" cy="449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atabase Icon PNG">
            <a:extLst>
              <a:ext uri="{FF2B5EF4-FFF2-40B4-BE49-F238E27FC236}">
                <a16:creationId xmlns:a16="http://schemas.microsoft.com/office/drawing/2014/main" id="{639CA880-3FCF-2FB6-1F6F-AA791348CF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875" r="22875"/>
          <a:stretch>
            <a:fillRect/>
          </a:stretch>
        </p:blipFill>
        <p:spPr bwMode="auto">
          <a:xfrm>
            <a:off x="554345" y="4751082"/>
            <a:ext cx="405670" cy="466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FF35925-625D-4479-A7C1-622AC570D1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1384" y="593687"/>
            <a:ext cx="3569639" cy="567062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6F22EE2-8780-17F6-9B09-F0FB6607A6D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4804" y="639192"/>
            <a:ext cx="3295831" cy="218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537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5C0222-A644-9B95-EF4F-DC548AB92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562B66-4486-8B4B-8102-5EC724237B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46" r="1865" b="12557"/>
          <a:stretch>
            <a:fillRect/>
          </a:stretch>
        </p:blipFill>
        <p:spPr>
          <a:xfrm>
            <a:off x="0" y="-1"/>
            <a:ext cx="1618827" cy="12100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C574FC-8DFF-04D8-16A6-319B1E637B75}"/>
              </a:ext>
            </a:extLst>
          </p:cNvPr>
          <p:cNvSpPr txBox="1"/>
          <p:nvPr/>
        </p:nvSpPr>
        <p:spPr>
          <a:xfrm>
            <a:off x="190977" y="2105561"/>
            <a:ext cx="75238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rgbClr val="002060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Как мы применили 1С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CD0696-D1E4-C0EB-C29A-9BA6A0CFCEFA}"/>
              </a:ext>
            </a:extLst>
          </p:cNvPr>
          <p:cNvSpPr txBox="1"/>
          <p:nvPr/>
        </p:nvSpPr>
        <p:spPr>
          <a:xfrm>
            <a:off x="190977" y="2817860"/>
            <a:ext cx="7523850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1. Единая база</a:t>
            </a:r>
          </a:p>
          <a:p>
            <a:r>
              <a:rPr lang="en-US" sz="1600" dirty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     </a:t>
            </a:r>
            <a:r>
              <a:rPr lang="ru-RU" sz="1600" dirty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Справочники сотрудников и рабочих мест</a:t>
            </a:r>
          </a:p>
          <a:p>
            <a:endParaRPr lang="ru-RU" sz="1600" dirty="0">
              <a:solidFill>
                <a:srgbClr val="00206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ru-RU" sz="2000" dirty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2. </a:t>
            </a:r>
            <a:r>
              <a:rPr lang="en-US" sz="2000" dirty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HTTP-</a:t>
            </a:r>
            <a:r>
              <a:rPr lang="ru-RU" sz="2000" dirty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сервис</a:t>
            </a:r>
          </a:p>
          <a:p>
            <a:r>
              <a:rPr lang="en-US" sz="1600" dirty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      REST-</a:t>
            </a:r>
            <a:r>
              <a:rPr lang="ru-RU" sz="1600" dirty="0" err="1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эндпоинты</a:t>
            </a:r>
            <a:r>
              <a:rPr lang="ru-RU" sz="1600" dirty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для сайта</a:t>
            </a:r>
          </a:p>
          <a:p>
            <a:endParaRPr lang="ru-RU" sz="2000" dirty="0">
              <a:solidFill>
                <a:srgbClr val="00206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ru-RU" sz="2000" dirty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3. Поиск на сайте</a:t>
            </a:r>
          </a:p>
          <a:p>
            <a:r>
              <a:rPr lang="en-US" sz="1600" dirty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     </a:t>
            </a:r>
            <a:r>
              <a:rPr lang="ru-RU" sz="1600" dirty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Общий список, карточка с фото и планом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0B5B930-79F1-E3B2-54FD-874159E48D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31" t="2521" r="2933" b="8900"/>
          <a:stretch>
            <a:fillRect/>
          </a:stretch>
        </p:blipFill>
        <p:spPr>
          <a:xfrm>
            <a:off x="5676053" y="-1"/>
            <a:ext cx="5676054" cy="309142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BBF4FD0-4E75-8559-CF65-41E4390552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56" t="1513" r="3834" b="144"/>
          <a:stretch>
            <a:fillRect/>
          </a:stretch>
        </p:blipFill>
        <p:spPr>
          <a:xfrm>
            <a:off x="4646505" y="3650827"/>
            <a:ext cx="5208534" cy="3207173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4BB9593-9021-6A70-49B6-2F46F2CAE4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67" t="2756" r="3501"/>
          <a:stretch>
            <a:fillRect/>
          </a:stretch>
        </p:blipFill>
        <p:spPr>
          <a:xfrm>
            <a:off x="7279301" y="1327227"/>
            <a:ext cx="4891054" cy="297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480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BD636A-E9EB-AB75-7B75-437581594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877C860-9F51-3DFC-D226-10B6DBDBED8D}"/>
              </a:ext>
            </a:extLst>
          </p:cNvPr>
          <p:cNvSpPr txBox="1"/>
          <p:nvPr/>
        </p:nvSpPr>
        <p:spPr>
          <a:xfrm>
            <a:off x="2334075" y="3013611"/>
            <a:ext cx="75238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dirty="0">
                <a:solidFill>
                  <a:srgbClr val="002060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07761138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92</Words>
  <Application>Microsoft Office PowerPoint</Application>
  <PresentationFormat>Широкоэкранный</PresentationFormat>
  <Paragraphs>24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1" baseType="lpstr">
      <vt:lpstr>Calibri Light</vt:lpstr>
      <vt:lpstr>Roboto</vt:lpstr>
      <vt:lpstr>Calibri</vt:lpstr>
      <vt:lpstr>Roboto Medium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Владислав Баженов</dc:creator>
  <cp:lastModifiedBy>Владислав Баженов</cp:lastModifiedBy>
  <cp:revision>2</cp:revision>
  <dcterms:created xsi:type="dcterms:W3CDTF">2026-05-15T07:04:53Z</dcterms:created>
  <dcterms:modified xsi:type="dcterms:W3CDTF">2026-05-15T08:33:17Z</dcterms:modified>
</cp:coreProperties>
</file>